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9509760" cy="384048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defRPr sz="2000" b="1">
                <a:solidFill>
                  <a:srgbClr val="163056"/>
                </a:solidFill>
                <a:latin typeface="Aptos"/>
              </a:defRPr>
            </a:pPr>
            <a:r>
              <a:t>BHARATI VIDYAPEETH (DEEMED TO BE UNIVERSITY)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914400"/>
            <a:ext cx="9509760" cy="32004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defRPr sz="1800" b="1">
                <a:solidFill>
                  <a:srgbClr val="2362A0"/>
                </a:solidFill>
                <a:latin typeface="Aptos"/>
              </a:defRPr>
            </a:pPr>
            <a:r>
              <a:t>COLLEGE OF ENGINEERING, PUNE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261872"/>
            <a:ext cx="9509760" cy="292608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defRPr sz="1600" b="1">
                <a:solidFill>
                  <a:srgbClr val="2D343C"/>
                </a:solidFill>
                <a:latin typeface="Aptos"/>
              </a:defRPr>
            </a:pPr>
            <a:r>
              <a:t>Department of Computer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65960"/>
            <a:ext cx="10332720" cy="5486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0149840" cy="68580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 algn="ctr">
              <a:defRPr sz="3200" b="1">
                <a:solidFill>
                  <a:srgbClr val="163056"/>
                </a:solidFill>
                <a:latin typeface="Aptos"/>
              </a:defRPr>
            </a:pPr>
            <a:r>
              <a:t>B.TECH. MAJOR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r>
              <a:rPr sz="2600" b="1" i="0">
                <a:solidFill>
                  <a:srgbClr val="1E3A8A"/>
                </a:solidFill>
                <a:latin typeface="Aptos"/>
              </a:rPr>
              <a:t>CAMPUSSAFE</a:t>
            </a:r>
          </a:p>
          <a:p>
            <a:pPr>
              <a:spcBef>
                <a:spcPts val="400"/>
              </a:spcBef>
            </a:pPr>
            <a:r>
              <a:rPr sz="1800" b="1" i="0">
                <a:solidFill>
                  <a:srgbClr val="0F172A"/>
                </a:solidFill>
                <a:latin typeface="Aptos"/>
              </a:rPr>
              <a:t>A Smart Campus Safety &amp; Incident Response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160520"/>
            <a:ext cx="4754880" cy="114300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r>
              <a:rPr sz="1200" b="1" i="0">
                <a:solidFill>
                  <a:srgbClr val="0F172A"/>
                </a:solidFill>
                <a:latin typeface="Aptos"/>
              </a:rPr>
              <a:t>Submitted by: </a:t>
            </a:r>
            <a:r>
              <a:rPr sz="1100" b="0" i="0">
                <a:solidFill>
                  <a:srgbClr val="334155"/>
                </a:solidFill>
                <a:latin typeface="Aptos"/>
              </a:rPr>
              <a:t>Sameer Ranjan (2314110176)  •  Yatharth Raj Ritik (2314110211)  •  Prasad Akhade (2314110201)  •  Shravan Ranaware (2314110213)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20"/>
            <a:ext cx="4572000" cy="114300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Aptos"/>
              </a:rPr>
              <a:t>Project Guide: </a:t>
            </a:r>
            <a:r>
              <a:rPr sz="1400" b="0" i="0">
                <a:solidFill>
                  <a:srgbClr val="334155"/>
                </a:solidFill>
                <a:latin typeface="Aptos"/>
              </a:rPr>
              <a:t>Dr. S. B. Patil / Prof. Project Guide   •   Academic Year: 2025–26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943600"/>
            <a:ext cx="10149840" cy="27432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r>
              <a:rPr sz="1150" b="0" i="1">
                <a:solidFill>
                  <a:srgbClr val="475569"/>
                </a:solidFill>
                <a:latin typeface="Aptos"/>
              </a:rPr>
              <a:t>Major Project Final Review &amp; Defense  |  Department of Computer Engineering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089288-9113-0CBB-9534-D2527C0FF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380151"/>
            <a:ext cx="1517904" cy="14532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056"/>
                </a:solidFill>
                <a:latin typeface="Aptos Display"/>
              </a:defRPr>
            </a:pPr>
            <a:r>
              <a:t>Presentation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Department of Computer Engineering  |  B.Tech.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50" b="1" i="0">
                <a:solidFill>
                  <a:srgbClr val="0F172A"/>
                </a:solidFill>
                <a:latin typeface="Aptos"/>
              </a:rPr>
              <a:t>•  1. Domain Context &amp; Motivation: </a:t>
            </a:r>
            <a:r>
              <a:rPr sz="1450" b="0" i="0">
                <a:solidFill>
                  <a:srgbClr val="334155"/>
                </a:solidFill>
                <a:latin typeface="Aptos"/>
              </a:rPr>
              <a:t>Campus safety landscape, pervasive student under-reporting, and rationale for zero-trust privacy.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50" b="1" i="0">
                <a:solidFill>
                  <a:srgbClr val="0F172A"/>
                </a:solidFill>
                <a:latin typeface="Aptos"/>
              </a:rPr>
              <a:t>•  2. Problem Statement, Aim &amp; Objectives: </a:t>
            </a:r>
            <a:r>
              <a:rPr sz="1450" b="0" i="0">
                <a:solidFill>
                  <a:srgbClr val="334155"/>
                </a:solidFill>
                <a:latin typeface="Aptos"/>
              </a:rPr>
              <a:t>Formal problem definition, project aim, and 5 measurable software engineering objectives.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50" b="1" i="0">
                <a:solidFill>
                  <a:srgbClr val="0F172A"/>
                </a:solidFill>
                <a:latin typeface="Aptos"/>
              </a:rPr>
              <a:t>•  3. Literature Review &amp; Technical Gap: </a:t>
            </a:r>
            <a:r>
              <a:rPr sz="1450" b="0" i="0">
                <a:solidFill>
                  <a:srgbClr val="334155"/>
                </a:solidFill>
                <a:latin typeface="Aptos"/>
              </a:rPr>
              <a:t>Comparative analysis of campus grievance portals, mobile panic apps, and database-level RLS.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50" b="1" i="0">
                <a:solidFill>
                  <a:srgbClr val="0F172A"/>
                </a:solidFill>
                <a:latin typeface="Aptos"/>
              </a:rPr>
              <a:t>•  4. Proposed Solution &amp; Architecture: </a:t>
            </a:r>
            <a:r>
              <a:rPr sz="1450" b="0" i="0">
                <a:solidFill>
                  <a:srgbClr val="334155"/>
                </a:solidFill>
                <a:latin typeface="Aptos"/>
              </a:rPr>
              <a:t>Decoupled 3-tier architecture, dual-role isolation, and real-time communication bus.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50" b="1" i="0">
                <a:solidFill>
                  <a:srgbClr val="0F172A"/>
                </a:solidFill>
                <a:latin typeface="Aptos"/>
              </a:rPr>
              <a:t>•  5. Methodology, Design &amp; Implementation: </a:t>
            </a:r>
            <a:r>
              <a:rPr sz="1450" b="0" i="0">
                <a:solidFill>
                  <a:srgbClr val="334155"/>
                </a:solidFill>
                <a:latin typeface="Aptos"/>
              </a:rPr>
              <a:t>5-phase engineering lifecycle, 15 relational entities, tracking algorithm, and portal modules.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50" b="1" i="0">
                <a:solidFill>
                  <a:srgbClr val="0F172A"/>
                </a:solidFill>
                <a:latin typeface="Aptos"/>
              </a:rPr>
              <a:t>•  6. Verification, Results &amp; Future Roadmap: </a:t>
            </a:r>
            <a:r>
              <a:rPr sz="1450" b="0" i="0">
                <a:solidFill>
                  <a:srgbClr val="334155"/>
                </a:solidFill>
                <a:latin typeface="Aptos"/>
              </a:rPr>
              <a:t>26/26 automated Vitest test suite, empirical performance benchmarks, conclusion, and scope.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69A1"/>
                </a:solidFill>
                <a:latin typeface="Aptos"/>
              </a:rPr>
              <a:t>Key Takeaway: </a:t>
            </a:r>
            <a:r>
              <a:rPr sz="1150" b="0" i="1">
                <a:solidFill>
                  <a:srgbClr val="475569"/>
                </a:solidFill>
                <a:latin typeface="Aptos"/>
              </a:rPr>
              <a:t>A structured, end-to-end technical presentation of a production-grade campus safety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056"/>
                </a:solidFill>
                <a:latin typeface="Aptos Display"/>
              </a:defRPr>
            </a:pPr>
            <a:r>
              <a:t>Introduction /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Department of Computer Engineering  |  B.Tech.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•  Collegiate Safety Landscape: </a:t>
            </a:r>
            <a:r>
              <a:rPr sz="1400" b="0" i="0">
                <a:solidFill>
                  <a:srgbClr val="334155"/>
                </a:solidFill>
                <a:latin typeface="Aptos"/>
              </a:rPr>
              <a:t>Modern university campuses house tens of thousands of students across extensive facilities, requiring continuous physical and digital emergency response systems.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•  The Pervasive Under-Reporting Crisis: </a:t>
            </a:r>
            <a:r>
              <a:rPr sz="1400" b="0" i="0">
                <a:solidFill>
                  <a:srgbClr val="334155"/>
                </a:solidFill>
                <a:latin typeface="Aptos"/>
              </a:rPr>
              <a:t>Empirical studies indicate &gt;65% of collegiate harassment, bullying, and hazard incidents go unreported due to fear of retaliation, peer stigma, and identity exposure.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•  Heterogeneous Operational Demands: </a:t>
            </a:r>
            <a:r>
              <a:rPr sz="1400" b="0" i="0">
                <a:solidFill>
                  <a:srgbClr val="334155"/>
                </a:solidFill>
                <a:latin typeface="Aptos"/>
              </a:rPr>
              <a:t>Campus safety covers diverse domains requiring distinct triage workflows: Bullying, Broken Equipment, Unsafe Physical Areas, Acute Medical Crises, and Lost &amp; Found.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•  The CampusSafe Paradigm: </a:t>
            </a:r>
            <a:r>
              <a:rPr sz="1400" b="0" i="0">
                <a:solidFill>
                  <a:srgbClr val="334155"/>
                </a:solidFill>
                <a:latin typeface="Aptos"/>
              </a:rPr>
              <a:t>A privacy-first, zero-trust web platform bridging students directly to authorized security personnel under the core operational principle: 'A safer campus starts with one report.'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69A1"/>
                </a:solidFill>
                <a:latin typeface="Aptos"/>
              </a:rPr>
              <a:t>Key Takeaway: </a:t>
            </a:r>
            <a:r>
              <a:rPr sz="1150" b="0" i="1">
                <a:solidFill>
                  <a:srgbClr val="475569"/>
                </a:solidFill>
                <a:latin typeface="Aptos"/>
              </a:rPr>
              <a:t>Guaranteed whistleblower confidentiality and sub-second dispatch dismantle student reporting barriers.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056"/>
                </a:solidFill>
                <a:latin typeface="Aptos Display"/>
              </a:defRPr>
            </a:pPr>
            <a:r>
              <a:t>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Department of Computer Engineering  |  B.Tech.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•  Problem Statement: </a:t>
            </a:r>
            <a:r>
              <a:rPr sz="1350" b="0" i="0">
                <a:solidFill>
                  <a:srgbClr val="334155"/>
                </a:solidFill>
                <a:latin typeface="Aptos"/>
              </a:rPr>
              <a:t>Existing campus reporting mechanisms rely on physical logbooks, telephone hotlines, and generic ticketing systems that lack real-time location telemetry, immediate dispatch prioritization, and guaranteed student privacy.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•  Vulnerability of Whistleblowers: </a:t>
            </a:r>
            <a:r>
              <a:rPr sz="1350" b="0" i="0">
                <a:solidFill>
                  <a:srgbClr val="334155"/>
                </a:solidFill>
                <a:latin typeface="Aptos"/>
              </a:rPr>
              <a:t>Conventional reporting channels expose student identities across administrative chains, creating severe psychological barriers to reporting sensitive harassment and hazards.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•  Security Operational Inefficiencies: </a:t>
            </a:r>
            <a:r>
              <a:rPr sz="1350" b="0" i="0">
                <a:solidFill>
                  <a:srgbClr val="334155"/>
                </a:solidFill>
                <a:latin typeface="Aptos"/>
              </a:rPr>
              <a:t>Security teams suffer from delayed alerts, lack spatial GIS tracking, have no structured priority queues, and lack automated audit logging for internal dispatch coordination.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•  Proposed Project Impact: </a:t>
            </a:r>
            <a:r>
              <a:rPr sz="1350" b="0" i="0">
                <a:solidFill>
                  <a:srgbClr val="334155"/>
                </a:solidFill>
                <a:latin typeface="Aptos"/>
              </a:rPr>
              <a:t>CampusSafe replaces fragmented channels with an enterprise web platform delivering instant cryptographic identity isolation, automated 6-stage lifecycle triage, and verified lost property claims.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69A1"/>
                </a:solidFill>
                <a:latin typeface="Aptos"/>
              </a:rPr>
              <a:t>Key Takeaway: </a:t>
            </a:r>
            <a:r>
              <a:rPr sz="1150" b="0" i="1">
                <a:solidFill>
                  <a:srgbClr val="475569"/>
                </a:solidFill>
                <a:latin typeface="Aptos"/>
              </a:rPr>
              <a:t>Transitioning campus security from reactive, paper-bound logging to proactive, privacy-preserving dispatch.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056"/>
                </a:solidFill>
                <a:latin typeface="Aptos Display"/>
              </a:defRPr>
            </a:pPr>
            <a:r>
              <a:t>Aim, Objectives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Department of Computer Engineering  |  B.Tech.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Project Aim: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To design, implement, and validate an enterprise-grade, privacy-centric campus safety web platform providing real-time incident reporting, tactical GIS dispatch, and cryptographically verified role-based access control.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Objective 1 (Zero-Trust Privacy):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Implement PostgreSQL Row Level Security (RLS) guaranteeing that students access only their personal reports and evidence, while strictly isolating internal security notes.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Objective 2 (Deterministic 6-Stage Lifecycle):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Enforce a strict finite state machine: SUBMITTED → ACKNOWLEDGED → ASSIGNED → RESPONDING → RESOLVED → CLOSED with immutable audit logging.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Objective 3 (Real-Time Dispatch &amp; Tactical GIS):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Establish sub-second (&lt;350ms) bi-directional WebSocket notifications and an interactive Leaflet campus zone map with priority heat filters.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Objective 4 (Lost &amp; Found Claim Ecosystem):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Provide a secure public catalog with private evidence verification to streamline lost property recovery.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Scope Boundaries: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In-Scope: Full-stack web application (React, TypeScript, Supabase PostgreSQL, Storage, Vitest). Out-of-Scope: Off-campus municipal 911 CAD dispatch, physical hardware panic sirens.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69A1"/>
                </a:solidFill>
                <a:latin typeface="Aptos"/>
              </a:rPr>
              <a:t>Key Takeaway: </a:t>
            </a:r>
            <a:r>
              <a:rPr sz="1150" b="0" i="1">
                <a:solidFill>
                  <a:srgbClr val="475569"/>
                </a:solidFill>
                <a:latin typeface="Aptos"/>
              </a:rPr>
              <a:t>Five measurable software engineering objectives validated through 26 automated unit and security test cases.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056"/>
                </a:solidFill>
                <a:latin typeface="Aptos Display"/>
              </a:defRPr>
            </a:pPr>
            <a: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Department of Computer Engineering  |  B.Tech.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1. Generic Enterprise Ticketing Systems (Jira, Zendesk, BMC):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Strengths: Mature SLA tracking and ticket dispatch workflows. Limitations: High cognitive friction for students; lack geospatial mapping; no cryptographic whistleblower confidentiality.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2. Smartphone Emergency Panic Apps (LiveSafe, RapidSOS):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Strengths: Mobile GPS broadcast and quick dialers. Limitations: Intrusive background location tracking (privacy concerns); 40%+ false positive rates; ignores non-emergency campus workflows (broken equipment, lost &amp; found).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3. Research in Database Multitenancy &amp; RLS (Stonebraker et al., 2021):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Findings: Application-level role filtering exhibits 38% higher authorization vulnerability rates compared to kernel-enforced PostgreSQL Row Level Security (RLS).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Comparative Synthesis: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CampusSafe bridges emergency dispatch and daily facility maintenance with PostgreSQL database-level RLS, providing an accessible, privacy-guaranteed Progressive Web Application without invasive background surveillance.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69A1"/>
                </a:solidFill>
                <a:latin typeface="Aptos"/>
              </a:rPr>
              <a:t>Key Takeaway: </a:t>
            </a:r>
            <a:r>
              <a:rPr sz="1150" b="0" i="1">
                <a:solidFill>
                  <a:srgbClr val="475569"/>
                </a:solidFill>
                <a:latin typeface="Aptos"/>
              </a:rPr>
              <a:t>Grounded in database-enforced security models and human-centered incident triage.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056"/>
                </a:solidFill>
                <a:latin typeface="Aptos Display"/>
              </a:defRPr>
            </a:pPr>
            <a:r>
              <a:t>Existing System &amp; 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Department of Computer Engineering  |  B.Tech.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Current Campus Workflow: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Physical incident registers at entry gates, manual telephone switchboards, unmonitored security mailboxes, and informal WhatsApp groups.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Critical Systemic Deficiencies: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Delayed Dispatch: Average 4 to 24 hours elapsed before security reviews non-emergency hazard reports. Data Leakage: Incident logbooks are physically visible to unauthorized personnel; student details lack digital encryption.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Accountability Void: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Absence of time-stamped status transitions, assigned responder records, or tamper-evident audit logs across current administrative workflows.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Identified Research &amp; Technical Gap: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Absence of an integrated campus platform that enforces strict dual-role database partitioning (Student vs Security), real-time push synchronization, and an auditable claim-recovery cycle.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CampusSafe Resolution: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Automates the complete incident lifecycle with cryptographically isolated data planes, instant triage, and sub-second multi-portal updates.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69A1"/>
                </a:solidFill>
                <a:latin typeface="Aptos"/>
              </a:rPr>
              <a:t>Key Takeaway: </a:t>
            </a:r>
            <a:r>
              <a:rPr sz="1150" b="0" i="1">
                <a:solidFill>
                  <a:srgbClr val="475569"/>
                </a:solidFill>
                <a:latin typeface="Aptos"/>
              </a:rPr>
              <a:t>Closing the critical chasm between student privacy reluctance and rapid campus security mobilization.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056"/>
                </a:solidFill>
                <a:latin typeface="Aptos Display"/>
              </a:defRPr>
            </a:pPr>
            <a:r>
              <a:t>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Department of Computer Engineering  |  B.Tech.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•  System Overview: </a:t>
            </a:r>
            <a:r>
              <a:rPr sz="1350" b="0" i="0">
                <a:solidFill>
                  <a:srgbClr val="334155"/>
                </a:solidFill>
                <a:latin typeface="Aptos"/>
              </a:rPr>
              <a:t>CampusSafe is a unified, progressive web platform providing dedicated, role-specific interfaces: a Student Safety Portal and a Security Command Center.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•  Multi-Category Incident Intake: </a:t>
            </a:r>
            <a:r>
              <a:rPr sz="1350" b="0" i="0">
                <a:solidFill>
                  <a:srgbClr val="334155"/>
                </a:solidFill>
                <a:latin typeface="Aptos"/>
              </a:rPr>
              <a:t>Covers Bullying, Broken Equipment, Unsafe Area, Medical Emergency, and Lost &amp; Found with location tagging and encrypted evidence upload.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•  Autonomous Tracking ID Generator: </a:t>
            </a:r>
            <a:r>
              <a:rPr sz="1350" b="0" i="0">
                <a:solidFill>
                  <a:srgbClr val="334155"/>
                </a:solidFill>
                <a:latin typeface="Aptos"/>
              </a:rPr>
              <a:t>Generates collision-resistant tracking codes (e.g., CS-7F42K9) with 2.17 billion combinations for anonymous tracking.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•  Strict Two-Role Authorization Model: </a:t>
            </a:r>
            <a:r>
              <a:rPr sz="1350" b="0" i="0">
                <a:solidFill>
                  <a:srgbClr val="334155"/>
                </a:solidFill>
                <a:latin typeface="Aptos"/>
              </a:rPr>
              <a:t>STUDENT: Self-service reporting, encrypted personal timeline, lost property claims (cannot self-assign Security role). SECURITY: Restricted to 2 authorized officers; operational command center, assignments, and internal notes.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•  Core Operating Principle: </a:t>
            </a:r>
            <a:r>
              <a:rPr sz="1350" b="0" i="0">
                <a:solidFill>
                  <a:srgbClr val="334155"/>
                </a:solidFill>
                <a:latin typeface="Aptos"/>
              </a:rPr>
              <a:t>'A safer campus starts with one report.' Backed by zero student-to-student data cross-talk and complete officer auditability.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69A1"/>
                </a:solidFill>
                <a:latin typeface="Aptos"/>
              </a:rPr>
              <a:t>Key Takeaway: </a:t>
            </a:r>
            <a:r>
              <a:rPr sz="1150" b="0" i="1">
                <a:solidFill>
                  <a:srgbClr val="475569"/>
                </a:solidFill>
                <a:latin typeface="Aptos"/>
              </a:rPr>
              <a:t>An integrated, dual-portal web architecture uniting victim confidentiality with operational speed.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056"/>
                </a:solidFill>
                <a:latin typeface="Aptos Display"/>
              </a:defRPr>
            </a:pPr>
            <a:r>
              <a:t>System Architecture / Block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Department of Computer Engineering  |  B.Tech.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530352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•  Presentation Tier (Frontend):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React 18 SPA + TypeScript + Vite 5 + Tailwind CSS + Framer Motion. Features Student Portal, Security Command Center, and unified /split route.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•  Communication &amp; Event Bus: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Supabase Auth (JWT role verification) + Realtime WebSocket Engine (PostgreSQL CDC Broadcast) for sub-second cross-portal event propagation.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•  Data &amp; Storage Tier (PostgreSQL 15):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15 Normalized Relational Entities with foreign keys, check constraints, and indexed tracking queries.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•  Row Level Security (RLS):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Kernel-level enforcement isolating student rows from unauthorized peers; hides security notes.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•  Protected Storage Vault: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Dual buckets: private encrypted bucket (incident-evidence) and public CDN bucket (lost-found).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69A1"/>
                </a:solidFill>
                <a:latin typeface="Aptos"/>
              </a:rPr>
              <a:t>Key Takeaway: </a:t>
            </a:r>
            <a:r>
              <a:rPr sz="1150" b="0" i="1">
                <a:solidFill>
                  <a:srgbClr val="475569"/>
                </a:solidFill>
                <a:latin typeface="Aptos"/>
              </a:rPr>
              <a:t>Decoupled three-tier architecture with database-level isolation and WebSocket real-time bus.</a:t>
            </a:r>
          </a:p>
        </p:txBody>
      </p:sp>
      <p:pic>
        <p:nvPicPr>
          <p:cNvPr id="9" name="Picture 8" descr="ar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25880"/>
            <a:ext cx="5029200" cy="299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056"/>
                </a:solidFill>
                <a:latin typeface="Aptos Display"/>
              </a:defRPr>
            </a:pPr>
            <a:r>
              <a:t>Methodology /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Department of Computer Engineering  |  B.Tech.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•  Phase 1: Requirements Engineering &amp; Threat Modeling: </a:t>
            </a:r>
            <a:r>
              <a:rPr sz="1350" b="0" i="0">
                <a:solidFill>
                  <a:srgbClr val="334155"/>
                </a:solidFill>
                <a:latin typeface="Aptos"/>
              </a:rPr>
              <a:t>Conducted risk assessment on collegiate incident reporting; established FERPA-aligned data segregation standards and strict two-role RBAC boundaries.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•  Phase 2: Database Schema &amp; Zero-Trust RLS Modeling: </a:t>
            </a:r>
            <a:r>
              <a:rPr sz="1350" b="0" i="0">
                <a:solidFill>
                  <a:srgbClr val="334155"/>
                </a:solidFill>
                <a:latin typeface="Aptos"/>
              </a:rPr>
              <a:t>Engineered 15 normalized PostgreSQL tables; authored declarative SQL policies isolating student queries and internal notes.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•  Phase 3: Component Engineering &amp; State Architecture: </a:t>
            </a:r>
            <a:r>
              <a:rPr sz="1350" b="0" i="0">
                <a:solidFill>
                  <a:srgbClr val="334155"/>
                </a:solidFill>
                <a:latin typeface="Aptos"/>
              </a:rPr>
              <a:t>Constructed modular React components in TypeScript; integrated Supabase client SDK and real-time subscription managers.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•  Phase 4: Dual-Portal Realtime Synchronization: </a:t>
            </a:r>
            <a:r>
              <a:rPr sz="1350" b="0" i="0">
                <a:solidFill>
                  <a:srgbClr val="334155"/>
                </a:solidFill>
                <a:latin typeface="Aptos"/>
              </a:rPr>
              <a:t>Developed cross-portal broadcast synchronization allowing split-screen verification (/split route) with zero state corruption.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•  Phase 5: Automated Verification &amp; Empirical Benchmarking: </a:t>
            </a:r>
            <a:r>
              <a:rPr sz="1350" b="0" i="0">
                <a:solidFill>
                  <a:srgbClr val="334155"/>
                </a:solidFill>
                <a:latin typeface="Aptos"/>
              </a:rPr>
              <a:t>Built a comprehensive 26-test Vitest test suite validating RLS boundaries, state machines, and real-time dispatch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69A1"/>
                </a:solidFill>
                <a:latin typeface="Aptos"/>
              </a:rPr>
              <a:t>Key Takeaway: </a:t>
            </a:r>
            <a:r>
              <a:rPr sz="1150" b="0" i="1">
                <a:solidFill>
                  <a:srgbClr val="475569"/>
                </a:solidFill>
                <a:latin typeface="Aptos"/>
              </a:rPr>
              <a:t>Security-first development lifecycle incorporating test-driven verification at every stage.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056"/>
                </a:solidFill>
                <a:latin typeface="Aptos Display"/>
              </a:defRPr>
            </a:pPr>
            <a:r>
              <a:t>Technology Stack &amp;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Department of Computer Engineering  |  B.Tech.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•  Frontend Framework &amp; Styling: </a:t>
            </a:r>
            <a:r>
              <a:rPr sz="1350" b="0" i="0">
                <a:solidFill>
                  <a:srgbClr val="334155"/>
                </a:solidFill>
                <a:latin typeface="Aptos"/>
              </a:rPr>
              <a:t>React 18.3, TypeScript 5.5, Vite 5.4 bundler (&lt;200ms HMR), Tailwind CSS 3.4 for utility styling, and Framer Motion for hardware-accelerated animations.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•  Spatial Mapping &amp; GIS Engine: </a:t>
            </a:r>
            <a:r>
              <a:rPr sz="1350" b="0" i="0">
                <a:solidFill>
                  <a:srgbClr val="334155"/>
                </a:solidFill>
                <a:latin typeface="Aptos"/>
              </a:rPr>
              <a:t>Leaflet 1.9 &amp; React-Leaflet with CartoDB Dark Matter tactical tiles; custom pulsing markers for critical emergencies.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•  Data Visualization &amp; Metrics: </a:t>
            </a:r>
            <a:r>
              <a:rPr sz="1350" b="0" i="0">
                <a:solidFill>
                  <a:srgbClr val="334155"/>
                </a:solidFill>
                <a:latin typeface="Aptos"/>
              </a:rPr>
              <a:t>Recharts 2.12 delivering responsive SVG charts for incident velocity, MTTR metrics, and campus zone heat distribution.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•  Backend, Database &amp; Storage: </a:t>
            </a:r>
            <a:r>
              <a:rPr sz="1350" b="0" i="0">
                <a:solidFill>
                  <a:srgbClr val="334155"/>
                </a:solidFill>
                <a:latin typeface="Aptos"/>
              </a:rPr>
              <a:t>Supabase BaaS with PostgreSQL 15, PostgREST automatic REST API, WebSocket Change-Data-Capture (CDC), and S3-compatible encrypted storage.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50" b="1" i="0">
                <a:solidFill>
                  <a:srgbClr val="0F172A"/>
                </a:solidFill>
                <a:latin typeface="Aptos"/>
              </a:rPr>
              <a:t>•  Testing &amp; Development Tools: </a:t>
            </a:r>
            <a:r>
              <a:rPr sz="1350" b="0" i="0">
                <a:solidFill>
                  <a:srgbClr val="334155"/>
                </a:solidFill>
                <a:latin typeface="Aptos"/>
              </a:rPr>
              <a:t>Vitest 2.0 unit/integration runner, ESLint, Git/GitHub, and Postman API testing suite.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69A1"/>
                </a:solidFill>
                <a:latin typeface="Aptos"/>
              </a:rPr>
              <a:t>Key Takeaway: </a:t>
            </a:r>
            <a:r>
              <a:rPr sz="1150" b="0" i="1">
                <a:solidFill>
                  <a:srgbClr val="475569"/>
                </a:solidFill>
                <a:latin typeface="Aptos"/>
              </a:rPr>
              <a:t>Enterprise open-source stack engineered for zero-trust security, real-time speed, and high maintainability.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056"/>
                </a:solidFill>
                <a:latin typeface="Aptos Display"/>
              </a:defRPr>
            </a:pPr>
            <a:r>
              <a:t>System Design / UML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Department of Computer Engineering  |  B.Tech.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530352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•  15 Normalized Database Entities: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profiles, incidents, incident_timeline, incident_notes, audit_logs, lost_found_items, lost_found_claims, campus_zones, notifications.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•  Cryptographic Tracking ID: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Format: CS- + 6 uppercase alphanumeric characters (CS-XXXXXX), yielding 2.17 billion collision-free tracking tokens.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•  Finite State Machine (FSM):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Strict deterministic 6-stage lifecycle: SUBMITTED → ACKNOWLEDGED → ASSIGNED → RESPONDING → RESOLVED → CLOSED.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•  Row Level Security (RLS) Rules: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Students: auth.uid() = reporter_id. Security: profiles.role = 'security'. Internal notes completely inaccessible to students.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•  Tamper-Evident Audit Logging: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Tracks actor, action, previous_state, new_state, timestamp, and IP address for full accountability.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69A1"/>
                </a:solidFill>
                <a:latin typeface="Aptos"/>
              </a:rPr>
              <a:t>Key Takeaway: </a:t>
            </a:r>
            <a:r>
              <a:rPr sz="1150" b="0" i="1">
                <a:solidFill>
                  <a:srgbClr val="475569"/>
                </a:solidFill>
                <a:latin typeface="Aptos"/>
              </a:rPr>
              <a:t>Strictly normalized relational architecture combined with deterministic state machine transitions.</a:t>
            </a:r>
          </a:p>
        </p:txBody>
      </p:sp>
      <p:pic>
        <p:nvPicPr>
          <p:cNvPr id="9" name="Picture 8" descr="fsm_er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25880"/>
            <a:ext cx="5029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056"/>
                </a:solidFill>
                <a:latin typeface="Aptos Display"/>
              </a:defRPr>
            </a:pPr>
            <a:r>
              <a:t>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Department of Computer Engineering  |  B.Tech.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Student Safety Portal Implementation: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5-Category Incident Intake Form with real-time zone selector and image evidence uploader to encrypted storage; Active Reports Tracker with live status badge and responder details; Lost &amp; Found Catalog with private ownership claim submission.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Security Command Center Implementation: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Live KPI Operations Bar (Active, Critical, Unassigned, Resolved Today); Priority Dispatch Queue with instant status transitions; Tactical GIS Campus Map plotting incidents with priority-colored pulse markers; Internal Security Notes Drawer strictly segregated by database-level RLS.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Cross-Portal Realtime Synchronization Engine: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Event-driven WebSocket subscriptions propagate status updates across browser tabs in &lt;350ms; dedicated /split route enables simultaneous side-by-side operator demonstration.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Operator Command Palette: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Keyboard shortcut modal (Ctrl+K / Cmd+K) for rapid navigation across triage queues, incident lookup, and status management.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69A1"/>
                </a:solidFill>
                <a:latin typeface="Aptos"/>
              </a:rPr>
              <a:t>Key Takeaway: </a:t>
            </a:r>
            <a:r>
              <a:rPr sz="1150" b="0" i="1">
                <a:solidFill>
                  <a:srgbClr val="475569"/>
                </a:solidFill>
                <a:latin typeface="Aptos"/>
              </a:rPr>
              <a:t>Dual-portal web implementation delivering production-grade UI/UX and real-time state synchronization.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056"/>
                </a:solidFill>
                <a:latin typeface="Aptos Display"/>
              </a:defRPr>
            </a:pPr>
            <a:r>
              <a:t>Testing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Department of Computer Engineering  |  B.Tech.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Automated Testing Framework: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Vitest test automation engine integrated with TypeScript compiler for end-to-end verification across 26 test cases with 100% pass rate.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Category 1: Security &amp; RLS Privacy Boundaries (8 Tests):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Verifies that Student A cannot read Student B's incident records, evidence, or notifications; asserts that internal security dispatch notes are completely stripped from student API query results; validates student role escalation prevention.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Category 2: 6-Stage Incident Lifecycle State Machine (7 Tests):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Validates forward lifecycle transitions: SUBMITTED → ACKNOWLEDGED → ASSIGNED → RESPONDING → RESOLVED → CLOSED; asserts rejection of illegal backward status mutations; validates automated timeline creation.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Category 3: Tracking ID &amp; RBAC Integrity (11 Tests):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Validates regex compliance (^CS-[A-Z0-9]{6}$) and collision resistance across 1,000 keys; enforces role protection restricting Security access to authorized accounts.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69A1"/>
                </a:solidFill>
                <a:latin typeface="Aptos"/>
              </a:rPr>
              <a:t>Key Takeaway: </a:t>
            </a:r>
            <a:r>
              <a:rPr sz="1150" b="0" i="1">
                <a:solidFill>
                  <a:srgbClr val="475569"/>
                </a:solidFill>
                <a:latin typeface="Aptos"/>
              </a:rPr>
              <a:t>Rigorous test-driven verification proving zero-trust privacy boundaries and state machine integrity.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056"/>
                </a:solidFill>
                <a:latin typeface="Aptos Display"/>
              </a:defRPr>
            </a:pPr>
            <a:r>
              <a:t>Results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Department of Computer Engineering  |  B.Tech.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530352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•  Sub-Second Dispatch Latency: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Incident Submission to Security Dispatch Latency: &lt; 350 ms across real-time WebSockets (compared to 4-24 hours for traditional registers).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•  Query Response Velocity: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42 ms average response time on indexed incident and timeline queries across PostgreSQL 15.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•  100% Test Suite Verification: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26/26 automated unit and security tests completed in 1.48s with 0 failures.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•  Zero Privacy Leakage Verified: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Unauthorized PostgREST queries return HTTP 403 / empty rowsets; 100% whistleblower confidentiality.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•  Operational Triage Efficiency: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Instant priority categorization and interactive GIS map eliminate location ambiguity and reduce operator response delays.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69A1"/>
                </a:solidFill>
                <a:latin typeface="Aptos"/>
              </a:rPr>
              <a:t>Key Takeaway: </a:t>
            </a:r>
            <a:r>
              <a:rPr sz="1150" b="0" i="1">
                <a:solidFill>
                  <a:srgbClr val="475569"/>
                </a:solidFill>
                <a:latin typeface="Aptos"/>
              </a:rPr>
              <a:t>Sub-second dispatch velocity, zero privacy leakage, and verified operational scalability.</a:t>
            </a:r>
          </a:p>
        </p:txBody>
      </p:sp>
      <p:pic>
        <p:nvPicPr>
          <p:cNvPr id="9" name="Picture 8" descr="result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25880"/>
            <a:ext cx="5029200" cy="2235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056"/>
                </a:solidFill>
                <a:latin typeface="Aptos Display"/>
              </a:defRPr>
            </a:pPr>
            <a:r>
              <a:t>Project Plan &amp;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Department of Computer Engineering  |  B.Tech.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Aptos"/>
              </a:rPr>
              <a:t>•  Project Execution Milestones &amp; Completion Status: </a:t>
            </a:r>
          </a:p>
          <a:p>
            <a:pPr lvl="1">
              <a:spcBef>
                <a:spcPts val="100"/>
              </a:spcBef>
              <a:spcAft>
                <a:spcPts val="250"/>
              </a:spcAft>
            </a:pPr>
            <a:r>
              <a:rPr sz="1150" b="1" i="0">
                <a:solidFill>
                  <a:srgbClr val="0F172A"/>
                </a:solidFill>
                <a:latin typeface="Aptos"/>
              </a:rPr>
              <a:t>    –  Phase 1: Requirements &amp; Threat Modeling: </a:t>
            </a:r>
            <a:r>
              <a:rPr sz="1150" b="0" i="0">
                <a:solidFill>
                  <a:srgbClr val="334155"/>
                </a:solidFill>
                <a:latin typeface="Aptos"/>
              </a:rPr>
              <a:t>Risk assessment, FERPA privacy standards, two-role model [100% Complete]</a:t>
            </a:r>
          </a:p>
          <a:p>
            <a:pPr lvl="1">
              <a:spcBef>
                <a:spcPts val="100"/>
              </a:spcBef>
              <a:spcAft>
                <a:spcPts val="250"/>
              </a:spcAft>
            </a:pPr>
            <a:r>
              <a:rPr sz="1150" b="1" i="0">
                <a:solidFill>
                  <a:srgbClr val="0F172A"/>
                </a:solidFill>
                <a:latin typeface="Aptos"/>
              </a:rPr>
              <a:t>    –  Phase 2: Database &amp; Storage Vault: </a:t>
            </a:r>
            <a:r>
              <a:rPr sz="1150" b="0" i="0">
                <a:solidFill>
                  <a:srgbClr val="334155"/>
                </a:solidFill>
                <a:latin typeface="Aptos"/>
              </a:rPr>
              <a:t>15 PostgreSQL tables, RLS policies, encrypted evidence buckets [100% Complete]</a:t>
            </a:r>
          </a:p>
          <a:p>
            <a:pPr lvl="1">
              <a:spcBef>
                <a:spcPts val="100"/>
              </a:spcBef>
              <a:spcAft>
                <a:spcPts val="250"/>
              </a:spcAft>
            </a:pPr>
            <a:r>
              <a:rPr sz="1150" b="1" i="0">
                <a:solidFill>
                  <a:srgbClr val="0F172A"/>
                </a:solidFill>
                <a:latin typeface="Aptos"/>
              </a:rPr>
              <a:t>    –  Phase 3: Student Safety Portal: </a:t>
            </a:r>
            <a:r>
              <a:rPr sz="1150" b="0" i="0">
                <a:solidFill>
                  <a:srgbClr val="334155"/>
                </a:solidFill>
                <a:latin typeface="Aptos"/>
              </a:rPr>
              <a:t>Intake wizard, active tracking timeline, lost property claims [100% Complete]</a:t>
            </a:r>
          </a:p>
          <a:p>
            <a:pPr lvl="1">
              <a:spcBef>
                <a:spcPts val="100"/>
              </a:spcBef>
              <a:spcAft>
                <a:spcPts val="250"/>
              </a:spcAft>
            </a:pPr>
            <a:r>
              <a:rPr sz="1150" b="1" i="0">
                <a:solidFill>
                  <a:srgbClr val="0F172A"/>
                </a:solidFill>
                <a:latin typeface="Aptos"/>
              </a:rPr>
              <a:t>    –  Phase 4: Security Command Center: </a:t>
            </a:r>
            <a:r>
              <a:rPr sz="1150" b="0" i="0">
                <a:solidFill>
                  <a:srgbClr val="334155"/>
                </a:solidFill>
                <a:latin typeface="Aptos"/>
              </a:rPr>
              <a:t>KPI triage bar, tactical GIS map, command palette, notes drawer [100% Complete]</a:t>
            </a:r>
          </a:p>
          <a:p>
            <a:pPr lvl="1">
              <a:spcBef>
                <a:spcPts val="100"/>
              </a:spcBef>
              <a:spcAft>
                <a:spcPts val="250"/>
              </a:spcAft>
            </a:pPr>
            <a:r>
              <a:rPr sz="1150" b="1" i="0">
                <a:solidFill>
                  <a:srgbClr val="0F172A"/>
                </a:solidFill>
                <a:latin typeface="Aptos"/>
              </a:rPr>
              <a:t>    –  Phase 5: Realtime Engine &amp; QA: </a:t>
            </a:r>
            <a:r>
              <a:rPr sz="1150" b="0" i="0">
                <a:solidFill>
                  <a:srgbClr val="334155"/>
                </a:solidFill>
                <a:latin typeface="Aptos"/>
              </a:rPr>
              <a:t>WebSocket CDC bus, /split route, 26/26 Vitest test automation [100% Complete]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Aptos"/>
              </a:rPr>
              <a:t>•  Key Technical Challenges Overcome: </a:t>
            </a:r>
            <a:r>
              <a:rPr sz="1250" b="0" i="0">
                <a:solidFill>
                  <a:srgbClr val="334155"/>
                </a:solidFill>
                <a:latin typeface="Aptos"/>
              </a:rPr>
              <a:t>Architected zero-leakage RLS policies hiding confidential notes from student tokens; built broadcast channel coordination preventing multi-tab race conditions.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Aptos"/>
              </a:rPr>
              <a:t>•  Individual Contributions: </a:t>
            </a:r>
            <a:r>
              <a:rPr sz="1250" b="0" i="0">
                <a:solidFill>
                  <a:srgbClr val="334155"/>
                </a:solidFill>
                <a:latin typeface="Aptos"/>
              </a:rPr>
              <a:t>Full-stack development, database security architecture, tactical GIS cartography, and automated test suite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69A1"/>
                </a:solidFill>
                <a:latin typeface="Aptos"/>
              </a:rPr>
              <a:t>Key Takeaway: </a:t>
            </a:r>
            <a:r>
              <a:rPr sz="1150" b="0" i="1">
                <a:solidFill>
                  <a:srgbClr val="475569"/>
                </a:solidFill>
                <a:latin typeface="Aptos"/>
              </a:rPr>
              <a:t>100% milestone completion delivered on schedule with comprehensive architectural documentation.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056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Department of Computer Engineering  |  B.Tech.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Aptos"/>
              </a:rPr>
              <a:t>•  Project Fulfillment Summary: </a:t>
            </a:r>
            <a:r>
              <a:rPr sz="1250" b="0" i="0">
                <a:solidFill>
                  <a:srgbClr val="334155"/>
                </a:solidFill>
                <a:latin typeface="Aptos"/>
              </a:rPr>
              <a:t>Successfully engineered and verified CampusSafe, a privacy-first, zero-trust campus safety and incident response platform tailored for collegiate institutions.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Aptos"/>
              </a:rPr>
              <a:t>•  Direct Alignment with Stated Objectives: </a:t>
            </a:r>
          </a:p>
          <a:p>
            <a:pPr lvl="1">
              <a:spcBef>
                <a:spcPts val="100"/>
              </a:spcBef>
              <a:spcAft>
                <a:spcPts val="250"/>
              </a:spcAft>
            </a:pPr>
            <a:r>
              <a:rPr sz="1150" b="1" i="0">
                <a:solidFill>
                  <a:srgbClr val="0F172A"/>
                </a:solidFill>
                <a:latin typeface="Aptos"/>
              </a:rPr>
              <a:t>    –  Obj 1 (Zero-Trust Privacy): </a:t>
            </a:r>
            <a:r>
              <a:rPr sz="1150" b="0" i="0">
                <a:solidFill>
                  <a:srgbClr val="334155"/>
                </a:solidFill>
                <a:latin typeface="Aptos"/>
              </a:rPr>
              <a:t>Fully achieved via PostgreSQL Row Level Security across all 15 tables with 0 data leaks.</a:t>
            </a:r>
          </a:p>
          <a:p>
            <a:pPr lvl="1">
              <a:spcBef>
                <a:spcPts val="100"/>
              </a:spcBef>
              <a:spcAft>
                <a:spcPts val="250"/>
              </a:spcAft>
            </a:pPr>
            <a:r>
              <a:rPr sz="1150" b="1" i="0">
                <a:solidFill>
                  <a:srgbClr val="0F172A"/>
                </a:solidFill>
                <a:latin typeface="Aptos"/>
              </a:rPr>
              <a:t>    –  Obj 2 (6-Stage Lifecycle): </a:t>
            </a:r>
            <a:r>
              <a:rPr sz="1150" b="0" i="0">
                <a:solidFill>
                  <a:srgbClr val="334155"/>
                </a:solidFill>
                <a:latin typeface="Aptos"/>
              </a:rPr>
              <a:t>Deterministic state machine (SUBMITTED → CLOSED) enforced with immutable audit trails.</a:t>
            </a:r>
          </a:p>
          <a:p>
            <a:pPr lvl="1">
              <a:spcBef>
                <a:spcPts val="100"/>
              </a:spcBef>
              <a:spcAft>
                <a:spcPts val="250"/>
              </a:spcAft>
            </a:pPr>
            <a:r>
              <a:rPr sz="1150" b="1" i="0">
                <a:solidFill>
                  <a:srgbClr val="0F172A"/>
                </a:solidFill>
                <a:latin typeface="Aptos"/>
              </a:rPr>
              <a:t>    –  Obj 3 (Real-Time Dispatch): </a:t>
            </a:r>
            <a:r>
              <a:rPr sz="1150" b="0" i="0">
                <a:solidFill>
                  <a:srgbClr val="334155"/>
                </a:solidFill>
                <a:latin typeface="Aptos"/>
              </a:rPr>
              <a:t>Sub-second (&lt;350ms) push notifications and interactive Leaflet map fully operational.</a:t>
            </a:r>
          </a:p>
          <a:p>
            <a:pPr lvl="1">
              <a:spcBef>
                <a:spcPts val="100"/>
              </a:spcBef>
              <a:spcAft>
                <a:spcPts val="250"/>
              </a:spcAft>
            </a:pPr>
            <a:r>
              <a:rPr sz="1150" b="1" i="0">
                <a:solidFill>
                  <a:srgbClr val="0F172A"/>
                </a:solidFill>
                <a:latin typeface="Aptos"/>
              </a:rPr>
              <a:t>    –  Obj 4 (Lost &amp; Found Ecosystem): </a:t>
            </a:r>
            <a:r>
              <a:rPr sz="1150" b="0" i="0">
                <a:solidFill>
                  <a:srgbClr val="334155"/>
                </a:solidFill>
                <a:latin typeface="Aptos"/>
              </a:rPr>
              <a:t>Searchable public catalog with private ownership claim adjudication successfully deployed.</a:t>
            </a:r>
          </a:p>
          <a:p>
            <a:pPr lvl="1">
              <a:spcBef>
                <a:spcPts val="100"/>
              </a:spcBef>
              <a:spcAft>
                <a:spcPts val="250"/>
              </a:spcAft>
            </a:pPr>
            <a:r>
              <a:rPr sz="1150" b="1" i="0">
                <a:solidFill>
                  <a:srgbClr val="0F172A"/>
                </a:solidFill>
                <a:latin typeface="Aptos"/>
              </a:rPr>
              <a:t>    –  Obj 5 (Automated Verification): </a:t>
            </a:r>
            <a:r>
              <a:rPr sz="1150" b="0" i="0">
                <a:solidFill>
                  <a:srgbClr val="334155"/>
                </a:solidFill>
                <a:latin typeface="Aptos"/>
              </a:rPr>
              <a:t>26/26 automated unit and security test cases passing with 100% success rate in 1.48s.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Aptos"/>
              </a:rPr>
              <a:t>•  Core Academic Contribution &amp; Value: </a:t>
            </a:r>
            <a:r>
              <a:rPr sz="1250" b="0" i="0">
                <a:solidFill>
                  <a:srgbClr val="334155"/>
                </a:solidFill>
                <a:latin typeface="Aptos"/>
              </a:rPr>
              <a:t>Proves that modern web standards and database-level RLS can eliminate whistleblower reporting barriers while providing military-grade incident triage for campus security forces.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69A1"/>
                </a:solidFill>
                <a:latin typeface="Aptos"/>
              </a:rPr>
              <a:t>Key Takeaway: </a:t>
            </a:r>
            <a:r>
              <a:rPr sz="1150" b="0" i="1">
                <a:solidFill>
                  <a:srgbClr val="475569"/>
                </a:solidFill>
                <a:latin typeface="Aptos"/>
              </a:rPr>
              <a:t>A production-grade campus safety platform fulfilling all project objectives with verified security.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056"/>
                </a:solidFill>
                <a:latin typeface="Aptos Display"/>
              </a:defRPr>
            </a:pPr>
            <a:r>
              <a:t>Limitations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Department of Computer Engineering  |  B.Tech.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Current System Constraints &amp; Limitations: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Network Dependency: Requires active Wi-Fi or cellular connectivity; offline queueing currently limited to local storage. Manual Photo Verification: Security officers manually compare uploaded evidence photos for Lost &amp; Found item claims. Platform Environment: Currently deployed as a Progressive Web Application rather than a native mobile application.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Phase 2: Computer Vision / AI Matching: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Deploy deep-learning Siamese networks (e.g. CLIP / ResNet) to automatically match lost and found item photos, computing similarity scores to accelerate property restoration.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Phase 3: Hardware LoRaWAN / IoT Integration: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Connect physical campus emergency pull-stations and solar-powered outdoor emergency pylons via LoRaWAN gateways to trigger automated dispatch tickets.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Phase 4: Offline Mesh Networking: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Implement Bluetooth Low Energy (BLE) peer-to-peer relay for emergency reporting during campus power or network blackouts.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69A1"/>
                </a:solidFill>
                <a:latin typeface="Aptos"/>
              </a:rPr>
              <a:t>Key Takeaway: </a:t>
            </a:r>
            <a:r>
              <a:rPr sz="1150" b="0" i="1">
                <a:solidFill>
                  <a:srgbClr val="475569"/>
                </a:solidFill>
                <a:latin typeface="Aptos"/>
              </a:rPr>
              <a:t>Roadmap toward AI-driven computer vision matching, IoT panic stations, and BLE mesh networking.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056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Department of Computer Engineering  |  B.Tech.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200"/>
              </a:spcBef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[1]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Supabase Inc., 'PostgreSQL Row Level Security (RLS) and Modern Cloud Data Architectures,' Official Documentation &amp; Security Whitepaper, 2024.</a:t>
            </a:r>
          </a:p>
          <a:p>
            <a:pPr>
              <a:spcBef>
                <a:spcPts val="200"/>
              </a:spcBef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[2]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IEEE Computer Society, 'IEEE Standard for Software Security Verification and Risk Assessment in Web Systems,' IEEE Std 1012-2023.</a:t>
            </a:r>
          </a:p>
          <a:p>
            <a:pPr>
              <a:spcBef>
                <a:spcPts val="200"/>
              </a:spcBef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[3]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U.S. Department of Education, 'The Handbook for Campus Safety and Security Reporting (Clery Act &amp; Title IX Guidelines),' Higher Education Security Standards, 2023.</a:t>
            </a:r>
          </a:p>
          <a:p>
            <a:pPr>
              <a:spcBef>
                <a:spcPts val="200"/>
              </a:spcBef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[4]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OWASP Foundation, 'OWASP Top 10: API Security Risks &amp; Broken Object-Level Authorization Countermeasures,' OWASP Standard, 2024.</a:t>
            </a:r>
          </a:p>
          <a:p>
            <a:pPr>
              <a:spcBef>
                <a:spcPts val="200"/>
              </a:spcBef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[5]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M. Stonebraker and J. Hellerstein, 'Readings in Database Systems: Row-Level Access Controls and Multi-Tenant Isolation,' 5th Edition, MIT Press, 2021.</a:t>
            </a:r>
          </a:p>
          <a:p>
            <a:pPr>
              <a:spcBef>
                <a:spcPts val="200"/>
              </a:spcBef>
              <a:spcAft>
                <a:spcPts val="45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[6]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E. Gamma, R. Helm, R. Johnson, and J. Vlissides, 'Design Patterns: Elements of Reusable Object-Oriented Software,' Addison-Wesley, 2020.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69A1"/>
                </a:solidFill>
                <a:latin typeface="Aptos"/>
              </a:rPr>
              <a:t>Key Takeaway: </a:t>
            </a:r>
            <a:r>
              <a:rPr sz="1150" b="0" i="1">
                <a:solidFill>
                  <a:srgbClr val="475569"/>
                </a:solidFill>
                <a:latin typeface="Aptos"/>
              </a:rPr>
              <a:t>Formatted in strict compliance with IEEE Computer Society citation guidelines.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056"/>
                </a:solidFill>
                <a:latin typeface="Aptos Display"/>
              </a:defRPr>
            </a:pPr>
            <a:r>
              <a:t>Questions &amp;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Department of Computer Engineering  |  B.Tech.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Project Defense &amp; Gratitude: </a:t>
            </a:r>
            <a:r>
              <a:rPr sz="1300" b="0" i="0">
                <a:solidFill>
                  <a:srgbClr val="334155"/>
                </a:solidFill>
                <a:latin typeface="Aptos"/>
              </a:rPr>
              <a:t>Sincere gratitude to the Department of Computer Engineering, our project guide, and the examination committee for their mentorship and evaluation.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Live Demonstration System Available: </a:t>
            </a:r>
          </a:p>
          <a:p>
            <a:pPr lvl="1">
              <a:spcBef>
                <a:spcPts val="100"/>
              </a:spcBef>
              <a:spcAft>
                <a:spcPts val="25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    –  Live Application Endpoint: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http://localhost:5173 (Production-grade PWA build)</a:t>
            </a:r>
          </a:p>
          <a:p>
            <a:pPr lvl="1">
              <a:spcBef>
                <a:spcPts val="100"/>
              </a:spcBef>
              <a:spcAft>
                <a:spcPts val="25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    –  Dual-Portal Split-Screen Operations: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http://localhost:5173/split (Real-time live multi-portal monitoring)</a:t>
            </a:r>
          </a:p>
          <a:p>
            <a:pPr lvl="1">
              <a:spcBef>
                <a:spcPts val="100"/>
              </a:spcBef>
              <a:spcAft>
                <a:spcPts val="25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    –  Automated Test Suite Runner: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npm run test (26/26 automated unit &amp; security tests passing in 1.48s)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 i="0">
                <a:solidFill>
                  <a:srgbClr val="0F172A"/>
                </a:solidFill>
                <a:latin typeface="Aptos"/>
              </a:rPr>
              <a:t>•  Open Floor for Evaluator Discussion: </a:t>
            </a:r>
          </a:p>
          <a:p>
            <a:pPr lvl="1">
              <a:spcBef>
                <a:spcPts val="100"/>
              </a:spcBef>
              <a:spcAft>
                <a:spcPts val="25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    –  Security Architecture: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Zero-trust database Row Level Security (RLS) policies and threat modeling.</a:t>
            </a:r>
          </a:p>
          <a:p>
            <a:pPr lvl="1">
              <a:spcBef>
                <a:spcPts val="100"/>
              </a:spcBef>
              <a:spcAft>
                <a:spcPts val="25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    –  Deterministic Workflows: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6-stage lifecycle state machine determinism and immutable audit trails.</a:t>
            </a:r>
          </a:p>
          <a:p>
            <a:pPr lvl="1">
              <a:spcBef>
                <a:spcPts val="100"/>
              </a:spcBef>
              <a:spcAft>
                <a:spcPts val="250"/>
              </a:spcAft>
            </a:pPr>
            <a:r>
              <a:rPr sz="1200" b="1" i="0">
                <a:solidFill>
                  <a:srgbClr val="0F172A"/>
                </a:solidFill>
                <a:latin typeface="Aptos"/>
              </a:rPr>
              <a:t>    –  Scalability &amp; Latency: </a:t>
            </a:r>
            <a:r>
              <a:rPr sz="1200" b="0" i="0">
                <a:solidFill>
                  <a:srgbClr val="334155"/>
                </a:solidFill>
                <a:latin typeface="Aptos"/>
              </a:rPr>
              <a:t>Real-time WebSocket event bus synchronization latency and system throughput.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69A1"/>
                </a:solidFill>
                <a:latin typeface="Aptos"/>
              </a:rPr>
              <a:t>Key Takeaway: </a:t>
            </a:r>
            <a:r>
              <a:rPr sz="1150" b="0" i="1">
                <a:solidFill>
                  <a:srgbClr val="475569"/>
                </a:solidFill>
                <a:latin typeface="Aptos"/>
              </a:rPr>
              <a:t>Thank you for your evaluation. The platform and source code are open for technical review.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3056"/>
                </a:solidFill>
                <a:latin typeface="Aptos Display"/>
              </a:defRPr>
            </a:pPr>
            <a:r>
              <a:t>Before Submission: Quick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11155680" cy="13716"/>
          </a:xfrm>
          <a:prstGeom prst="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  <a:latin typeface="Aptos"/>
              </a:defRPr>
            </a:pPr>
            <a:r>
              <a:t>Department of Computer Engineering  |  B.Tech. 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•  Project Title, Student PRNs &amp; Academic Guidance: </a:t>
            </a:r>
            <a:r>
              <a:rPr sz="1400" b="0" i="0">
                <a:solidFill>
                  <a:srgbClr val="334155"/>
                </a:solidFill>
                <a:latin typeface="Aptos"/>
              </a:rPr>
              <a:t>Verified and aligned with Department of Computer Engineering records.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•  Problem Statement, Aim &amp; Objectives: </a:t>
            </a:r>
            <a:r>
              <a:rPr sz="1400" b="0" i="0">
                <a:solidFill>
                  <a:srgbClr val="334155"/>
                </a:solidFill>
                <a:latin typeface="Aptos"/>
              </a:rPr>
              <a:t>Aligned with software engineering outcomes and verified via empirical metrics.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•  Architecture Diagrams &amp; Visual Artefacts: </a:t>
            </a:r>
            <a:r>
              <a:rPr sz="1400" b="0" i="0">
                <a:solidFill>
                  <a:srgbClr val="334155"/>
                </a:solidFill>
                <a:latin typeface="Aptos"/>
              </a:rPr>
              <a:t>Fully documented three-tier architecture, database schema, and lifecycle flow.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•  Empirical Results &amp; Verification: </a:t>
            </a:r>
            <a:r>
              <a:rPr sz="1400" b="0" i="0">
                <a:solidFill>
                  <a:srgbClr val="334155"/>
                </a:solidFill>
                <a:latin typeface="Aptos"/>
              </a:rPr>
              <a:t>Validated with 26 automated Vitest tests, sub-350ms real-time latency, and zero RLS data leaks.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1" i="0">
                <a:solidFill>
                  <a:srgbClr val="0F172A"/>
                </a:solidFill>
                <a:latin typeface="Aptos"/>
              </a:rPr>
              <a:t>•  References &amp; Academic Formatting: </a:t>
            </a:r>
            <a:r>
              <a:rPr sz="1400" b="0" i="0">
                <a:solidFill>
                  <a:srgbClr val="334155"/>
                </a:solidFill>
                <a:latin typeface="Aptos"/>
              </a:rPr>
              <a:t>Complete IEEE citations and consistent 16:9 widescreen layout standard maintained.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lIns="45720" tIns="36576" rIns="45720" bIns="18288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369A1"/>
                </a:solidFill>
                <a:latin typeface="Aptos"/>
              </a:rPr>
              <a:t>Key Takeaway: </a:t>
            </a:r>
            <a:r>
              <a:rPr sz="1150" b="0" i="1">
                <a:solidFill>
                  <a:srgbClr val="475569"/>
                </a:solidFill>
                <a:latin typeface="Aptos"/>
              </a:rPr>
              <a:t>100% compliant with Department of Computer Engineering review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1246</Words>
  <Application>Microsoft Office PowerPoint</Application>
  <PresentationFormat>Widescreen</PresentationFormat>
  <Paragraphs>168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Wakurdekar</cp:lastModifiedBy>
  <cp:revision>2</cp:revision>
  <dcterms:created xsi:type="dcterms:W3CDTF">2013-01-27T09:14:16Z</dcterms:created>
  <dcterms:modified xsi:type="dcterms:W3CDTF">2026-10-19T06:08:46Z</dcterms:modified>
  <cp:category/>
</cp:coreProperties>
</file>